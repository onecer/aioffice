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docProps/core.xml" ContentType="application/vnd.openxmlformats-package.core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489817afc8427d" /><Relationship Type="http://schemas.openxmlformats.org/package/2006/relationships/metadata/core-properties" Target="/docProps/core.xml" Id="Rdaf8bee24429495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id="257" r:id="R0d4e2ce2e86f4db8"/>
    <p:sldId id="258" r:id="R21ccb4fa3e3f430f"/>
    <p:sldId id="259" r:id="R283341a04e934199"/>
    <p:sldId id="260" r:id="Rdbf02b977ffa457e"/>
    <p:sldId id="261" r:id="Rd32eee15a4bb4196"/>
  </p:sldIdLst>
  <p:sldSz cx="12192000" cy="6858000" type="custom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0d4e2ce2e86f4db8" /><Relationship Type="http://schemas.openxmlformats.org/officeDocument/2006/relationships/slide" Target="/ppt/slides/slide3.xml" Id="R21ccb4fa3e3f430f" /><Relationship Type="http://schemas.openxmlformats.org/officeDocument/2006/relationships/slide" Target="/ppt/slides/slide4.xml" Id="R283341a04e934199" /><Relationship Type="http://schemas.openxmlformats.org/officeDocument/2006/relationships/slide" Target="/ppt/slides/slide5.xml" Id="Rdbf02b977ffa457e" /><Relationship Type="http://schemas.openxmlformats.org/officeDocument/2006/relationships/slide" Target="/ppt/slides/slide6.xml" Id="Rd32eee15a4bb419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BDF8"/>
      </a:accent1>
      <a:accent2>
        <a:srgbClr val="818CF8"/>
      </a:accent2>
      <a:accent3>
        <a:srgbClr val="34D39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c8b0be1344e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cd88b6e324b22" /><Relationship Type="http://schemas.openxmlformats.org/officeDocument/2006/relationships/chart" Target="/ppt/slides/charts/chart1.xml" Id="R343df4f9304b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bbbab193b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091bb7c604a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2a5527a8b40fd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1340d7728902461b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Weekly output by format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310</c:v>
                </c:pt>
                <c:pt idx="4">
                  <c:v>360</c:v>
                </c:pt>
                <c:pt idx="5">
                  <c:v>420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xlsx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</c:v>
                </c:pt>
                <c:pt idx="1">
                  <c:v>150</c:v>
                </c:pt>
                <c:pt idx="2">
                  <c:v>210</c:v>
                </c:pt>
                <c:pt idx="3">
                  <c:v>260</c:v>
                </c:pt>
                <c:pt idx="4">
                  <c:v>330</c:v>
                </c:pt>
                <c:pt idx="5">
                  <c:v>390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pptx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110</c:v>
                </c:pt>
                <c:pt idx="2">
                  <c:v>170</c:v>
                </c:pt>
                <c:pt idx="3">
                  <c:v>230</c:v>
                </c:pt>
                <c:pt idx="4">
                  <c:v>300</c:v>
                </c:pt>
                <c:pt idx="5">
                  <c:v>370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00001"/>
        <c:axId val="100002"/>
      </c:barChart>
      <c:catAx>
        <c:axId val="10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Week</a:t>
                </a:r>
              </a:p>
            </c:rich>
          </c:tx>
          <c:overlay val="0"/>
        </c:title>
        <c:crossAx val="100002"/>
      </c:catAx>
      <c:valAx>
        <c:axId val="10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Documents</a:t>
                </a:r>
              </a:p>
            </c:rich>
          </c:tx>
          <c:overlay val="0"/>
        </c:title>
        <c:crossAx val="100001"/>
      </c:valAx>
    </c:plotArea>
    <c:legend>
      <c:legendPos val="b"/>
      <c:overlay val="0"/>
    </c:legend>
    <c:plotVisOnly val="1"/>
  </c:chart>
  <c:externalData r:id="R1340d7728902461b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ccentBar"/>
          <p:cNvSpPr/>
          <p:nvPr/>
        </p:nvSpPr>
        <p:spPr>
          <a:xfrm>
            <a:off x="1080000" y="2016000"/>
            <a:ext cx="2592000" cy="576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cornerBlock"/>
          <p:cNvSpPr/>
          <p:nvPr/>
        </p:nvSpPr>
        <p:spPr>
          <a:xfrm>
            <a:off x="10656000" y="4824000"/>
            <a:ext cx="1537200" cy="11520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" name="ghostBlock"/>
          <p:cNvSpPr/>
          <p:nvPr/>
        </p:nvSpPr>
        <p:spPr>
          <a:xfrm>
            <a:off x="10080000" y="864000"/>
            <a:ext cx="1224000" cy="1224000"/>
          </a:xfrm>
          <a:prstGeom prst="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" name="wordmark"/>
          <p:cNvSpPr txBox="1"/>
          <p:nvPr/>
        </p:nvSpPr>
        <p:spPr>
          <a:xfrm>
            <a:off x="1026000" y="2322000"/>
            <a:ext cx="7200000" cy="93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8600" b="1">
                <a:solidFill>
                  <a:srgbClr val="F8FAFC"/>
                </a:solidFill>
              </a:rPr>
              <a:t>AIOffice</a:t>
            </a:r>
          </a:p>
        </p:txBody>
      </p:sp>
      <p:sp>
        <p:nvSpPr>
          <p:cNvPr id="6" name="tagline"/>
          <p:cNvSpPr txBox="1"/>
          <p:nvPr/>
        </p:nvSpPr>
        <p:spPr>
          <a:xfrm>
            <a:off x="1080000" y="3492000"/>
            <a:ext cx="7200000" cy="39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2600" b="0">
                <a:solidFill>
                  <a:srgbClr val="94A3B8"/>
                </a:solidFill>
              </a:rPr>
              <a:t>An AI-native Office engine for agents</a:t>
            </a:r>
          </a:p>
        </p:txBody>
      </p:sp>
      <p:sp>
        <p:nvSpPr>
          <p:cNvPr id="7" name="subtag"/>
          <p:cNvSpPr txBox="1"/>
          <p:nvPr/>
        </p:nvSpPr>
        <p:spPr>
          <a:xfrm>
            <a:off x="1080000" y="3960000"/>
            <a:ext cx="7200000" cy="288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475569"/>
                </a:solidFill>
              </a:rPr>
              <a:t>One self-contained binary  ·  docx · xlsx · pptx  ·  CLI + MCP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1080000" y="6408000"/>
            <a:ext cx="7200000" cy="252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0">
                <a:solidFill>
                  <a:srgbClr val="475569"/>
                </a:solidFill>
              </a:rPr>
              <a:t>Every slide in this deck was built only by aioffice — no Office installed.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17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rBar"/>
          <p:cNvSpPr/>
          <p:nvPr/>
        </p:nvSpPr>
        <p:spPr>
          <a:xfrm>
            <a:off x="720000" y="756000"/>
            <a:ext cx="1296000" cy="504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hdr"/>
          <p:cNvSpPr txBox="1"/>
          <p:nvPr/>
        </p:nvSpPr>
        <p:spPr>
          <a:xfrm>
            <a:off x="720000" y="900000"/>
            <a:ext cx="9360000" cy="57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400" b="1">
                <a:solidFill>
                  <a:srgbClr val="F8FAFC"/>
                </a:solidFill>
              </a:rPr>
              <a:t>One binary, three formats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512000"/>
            <a:ext cx="1044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94A3B8"/>
                </a:solidFill>
              </a:rPr>
              <a:t>Read, edit, render and validate real Office files — no Microsoft runtime, no cloud.</a:t>
            </a:r>
          </a:p>
        </p:txBody>
      </p:sp>
      <p:sp>
        <p:nvSpPr>
          <p:cNvPr id="5" name="card1"/>
          <p:cNvSpPr/>
          <p:nvPr/>
        </p:nvSpPr>
        <p:spPr>
          <a:xfrm>
            <a:off x="720000" y="2376000"/>
            <a:ext cx="3384000" cy="3384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card2"/>
          <p:cNvSpPr/>
          <p:nvPr/>
        </p:nvSpPr>
        <p:spPr>
          <a:xfrm>
            <a:off x="4392000" y="2376000"/>
            <a:ext cx="3384000" cy="3384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7" name="card3"/>
          <p:cNvSpPr/>
          <p:nvPr/>
        </p:nvSpPr>
        <p:spPr>
          <a:xfrm>
            <a:off x="8064000" y="2376000"/>
            <a:ext cx="3384000" cy="3384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c1bar"/>
          <p:cNvSpPr/>
          <p:nvPr/>
        </p:nvSpPr>
        <p:spPr>
          <a:xfrm>
            <a:off x="972000" y="2664000"/>
            <a:ext cx="576000" cy="432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9" name="c1num"/>
          <p:cNvSpPr txBox="1"/>
          <p:nvPr/>
        </p:nvSpPr>
        <p:spPr>
          <a:xfrm>
            <a:off x="972000" y="2844000"/>
            <a:ext cx="2880000" cy="54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4000" b="1">
                <a:solidFill>
                  <a:srgbClr val="38BDF8"/>
                </a:solidFill>
              </a:rPr>
              <a:t>docx</a:t>
            </a:r>
          </a:p>
        </p:txBody>
      </p:sp>
      <p:sp>
        <p:nvSpPr>
          <p:cNvPr id="10" name="c1t"/>
          <p:cNvSpPr txBox="1"/>
          <p:nvPr/>
        </p:nvSpPr>
        <p:spPr>
          <a:xfrm>
            <a:off x="972000" y="3564000"/>
            <a:ext cx="2880000" cy="3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700" b="1">
                <a:solidFill>
                  <a:srgbClr val="F8FAFC"/>
                </a:solidFill>
              </a:rPr>
              <a:t>Word documents</a:t>
            </a:r>
          </a:p>
        </p:txBody>
      </p:sp>
      <p:sp>
        <p:nvSpPr>
          <p:cNvPr id="11" name="c1b"/>
          <p:cNvSpPr txBox="1"/>
          <p:nvPr/>
        </p:nvSpPr>
        <p:spPr>
          <a:xfrm>
            <a:off x="972000" y="3960000"/>
            <a:ext cx="2880000" cy="12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300" b="0">
                <a:solidFill>
                  <a:srgbClr val="94A3B8"/>
                </a:solidFill>
              </a:rPr>
              <a:t>Headings, tables, styles,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tracked changes, comments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and mail-merge — straight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to clean OOXML.</a:t>
            </a:r>
          </a:p>
        </p:txBody>
      </p:sp>
      <p:sp>
        <p:nvSpPr>
          <p:cNvPr id="12" name="c2bar"/>
          <p:cNvSpPr/>
          <p:nvPr/>
        </p:nvSpPr>
        <p:spPr>
          <a:xfrm>
            <a:off x="4644000" y="2664000"/>
            <a:ext cx="576000" cy="43200"/>
          </a:xfrm>
          <a:prstGeom prst="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3" name="c2num"/>
          <p:cNvSpPr txBox="1"/>
          <p:nvPr/>
        </p:nvSpPr>
        <p:spPr>
          <a:xfrm>
            <a:off x="4644000" y="2844000"/>
            <a:ext cx="2880000" cy="54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4000" b="1">
                <a:solidFill>
                  <a:srgbClr val="818CF8"/>
                </a:solidFill>
              </a:rPr>
              <a:t>xlsx</a:t>
            </a:r>
          </a:p>
        </p:txBody>
      </p:sp>
      <p:sp>
        <p:nvSpPr>
          <p:cNvPr id="14" name="c2t"/>
          <p:cNvSpPr txBox="1"/>
          <p:nvPr/>
        </p:nvSpPr>
        <p:spPr>
          <a:xfrm>
            <a:off x="4644000" y="3564000"/>
            <a:ext cx="2880000" cy="3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700" b="1">
                <a:solidFill>
                  <a:srgbClr val="F8FAFC"/>
                </a:solidFill>
              </a:rPr>
              <a:t>Spreadsheets</a:t>
            </a:r>
          </a:p>
        </p:txBody>
      </p:sp>
      <p:sp>
        <p:nvSpPr>
          <p:cNvPr id="15" name="c2b"/>
          <p:cNvSpPr txBox="1"/>
          <p:nvPr/>
        </p:nvSpPr>
        <p:spPr>
          <a:xfrm>
            <a:off x="4644000" y="3960000"/>
            <a:ext cx="2880000" cy="12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300" b="0">
                <a:solidFill>
                  <a:srgbClr val="94A3B8"/>
                </a:solidFill>
              </a:rPr>
              <a:t>Real formulas, dynamic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arrays, charts, pivots,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conditional formats,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what-if &amp; goal-seek.</a:t>
            </a:r>
          </a:p>
        </p:txBody>
      </p:sp>
      <p:sp>
        <p:nvSpPr>
          <p:cNvPr id="16" name="c3bar"/>
          <p:cNvSpPr/>
          <p:nvPr/>
        </p:nvSpPr>
        <p:spPr>
          <a:xfrm>
            <a:off x="8316000" y="2664000"/>
            <a:ext cx="576000" cy="43200"/>
          </a:xfrm>
          <a:prstGeom prst="rect">
            <a:avLst/>
          </a:prstGeom>
          <a:solidFill>
            <a:srgbClr val="34D399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7" name="c3num"/>
          <p:cNvSpPr txBox="1"/>
          <p:nvPr/>
        </p:nvSpPr>
        <p:spPr>
          <a:xfrm>
            <a:off x="8316000" y="2844000"/>
            <a:ext cx="2880000" cy="54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4000" b="1">
                <a:solidFill>
                  <a:srgbClr val="34D399"/>
                </a:solidFill>
              </a:rPr>
              <a:t>pptx</a:t>
            </a:r>
          </a:p>
        </p:txBody>
      </p:sp>
      <p:sp>
        <p:nvSpPr>
          <p:cNvPr id="18" name="c3t"/>
          <p:cNvSpPr txBox="1"/>
          <p:nvPr/>
        </p:nvSpPr>
        <p:spPr>
          <a:xfrm>
            <a:off x="8316000" y="3564000"/>
            <a:ext cx="2880000" cy="3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700" b="1">
                <a:solidFill>
                  <a:srgbClr val="F8FAFC"/>
                </a:solidFill>
              </a:rPr>
              <a:t>Presentations</a:t>
            </a:r>
          </a:p>
        </p:txBody>
      </p:sp>
      <p:sp>
        <p:nvSpPr>
          <p:cNvPr id="19" name="c3b"/>
          <p:cNvSpPr txBox="1"/>
          <p:nvPr/>
        </p:nvSpPr>
        <p:spPr>
          <a:xfrm>
            <a:off x="8316000" y="3960000"/>
            <a:ext cx="2880000" cy="12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300" b="0">
                <a:solidFill>
                  <a:srgbClr val="94A3B8"/>
                </a:solidFill>
              </a:rPr>
              <a:t>Slides, shapes, native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charts, SmartArt, tables,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transitions and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animations.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17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hartPanel"/>
          <p:cNvSpPr/>
          <p:nvPr/>
        </p:nvSpPr>
        <p:spPr>
          <a:xfrm>
            <a:off x="612000" y="2052000"/>
            <a:ext cx="10944000" cy="4392000"/>
          </a:xfrm>
          <a:prstGeom prst="roundRect">
            <a:avLst/>
          </a:prstGeom>
          <a:solidFill>
            <a:srgbClr val="F8FAFC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2" name="hdrBar"/>
          <p:cNvSpPr/>
          <p:nvPr/>
        </p:nvSpPr>
        <p:spPr>
          <a:xfrm>
            <a:off x="720000" y="756000"/>
            <a:ext cx="1296000" cy="504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hdr"/>
          <p:cNvSpPr txBox="1"/>
          <p:nvPr/>
        </p:nvSpPr>
        <p:spPr>
          <a:xfrm>
            <a:off x="720000" y="900000"/>
            <a:ext cx="10080000" cy="57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400" b="1">
                <a:solidFill>
                  <a:srgbClr val="F8FAFC"/>
                </a:solidFill>
              </a:rPr>
              <a:t>Documents generated per week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512000"/>
            <a:ext cx="108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94A3B8"/>
                </a:solidFill>
              </a:rPr>
              <a:t>A native chart with data labels, legend and axis titles — written straight into the .pptx, opens in real PowerPoint.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756000" y="2160000"/>
          <a:ext cx="10656000" cy="4104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343df4f9304b49d1"/>
          </a:graphicData>
        </a:graphic>
      </p:graphicFrame>
    </p:spTree>
  </p:cSld>
  <p:clrMapOvr>
    <a:masterClrMapping xmlns:a="http://schemas.openxmlformats.org/drawingml/2006/main"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17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rBar"/>
          <p:cNvSpPr/>
          <p:nvPr/>
        </p:nvSpPr>
        <p:spPr>
          <a:xfrm>
            <a:off x="720000" y="756000"/>
            <a:ext cx="1296000" cy="504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hdr"/>
          <p:cNvSpPr txBox="1"/>
          <p:nvPr/>
        </p:nvSpPr>
        <p:spPr>
          <a:xfrm>
            <a:off x="720000" y="900000"/>
            <a:ext cx="10080000" cy="57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400" b="1">
                <a:solidFill>
                  <a:srgbClr val="F8FAFC"/>
                </a:solidFill>
              </a:rPr>
              <a:t>render -&gt; look -&gt; fix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512000"/>
            <a:ext cx="108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94A3B8"/>
                </a:solidFill>
              </a:rPr>
              <a:t>AIOffice renders any node to PNG so an agent can SEE its own output, judge it, and edit until it is right.</a:t>
            </a:r>
          </a:p>
        </p:txBody>
      </p:sp>
      <p:sp>
        <p:nvSpPr>
          <p:cNvPr id="5" name="step1"/>
          <p:cNvSpPr/>
          <p:nvPr/>
        </p:nvSpPr>
        <p:spPr>
          <a:xfrm>
            <a:off x="792000" y="2736000"/>
            <a:ext cx="3096000" cy="2592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step2"/>
          <p:cNvSpPr/>
          <p:nvPr/>
        </p:nvSpPr>
        <p:spPr>
          <a:xfrm>
            <a:off x="4536000" y="2736000"/>
            <a:ext cx="3096000" cy="2592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7" name="step3"/>
          <p:cNvSpPr/>
          <p:nvPr/>
        </p:nvSpPr>
        <p:spPr>
          <a:xfrm>
            <a:off x="8280000" y="2736000"/>
            <a:ext cx="3096000" cy="2592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arr1"/>
          <p:cNvSpPr/>
          <p:nvPr/>
        </p:nvSpPr>
        <p:spPr>
          <a:xfrm>
            <a:off x="3924000" y="3924000"/>
            <a:ext cx="576000" cy="252000"/>
          </a:xfrm>
          <a:prstGeom prst="rightArrow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9" name="arr2"/>
          <p:cNvSpPr/>
          <p:nvPr/>
        </p:nvSpPr>
        <p:spPr>
          <a:xfrm>
            <a:off x="7668000" y="3924000"/>
            <a:ext cx="576000" cy="252000"/>
          </a:xfrm>
          <a:prstGeom prst="rightArrow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s1n"/>
          <p:cNvSpPr txBox="1"/>
          <p:nvPr/>
        </p:nvSpPr>
        <p:spPr>
          <a:xfrm>
            <a:off x="1044000" y="2988000"/>
            <a:ext cx="2520000" cy="432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0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1" name="s1t"/>
          <p:cNvSpPr txBox="1"/>
          <p:nvPr/>
        </p:nvSpPr>
        <p:spPr>
          <a:xfrm>
            <a:off x="1044000" y="3528000"/>
            <a:ext cx="25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2000" b="1">
                <a:solidFill>
                  <a:srgbClr val="F8FAFC"/>
                </a:solidFill>
              </a:rPr>
              <a:t>render</a:t>
            </a:r>
          </a:p>
        </p:txBody>
      </p:sp>
      <p:sp>
        <p:nvSpPr>
          <p:cNvPr id="12" name="s1b"/>
          <p:cNvSpPr txBox="1"/>
          <p:nvPr/>
        </p:nvSpPr>
        <p:spPr>
          <a:xfrm>
            <a:off x="1044000" y="3960000"/>
            <a:ext cx="2592000" cy="12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0">
                <a:solidFill>
                  <a:srgbClr val="94A3B8"/>
                </a:solidFill>
              </a:rPr>
              <a:t>aioffice render deck.pptx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--to png --scope /slide[3]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/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The deck becomes a PNG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the agent can read back.</a:t>
            </a:r>
          </a:p>
        </p:txBody>
      </p:sp>
      <p:sp>
        <p:nvSpPr>
          <p:cNvPr id="13" name="s2n"/>
          <p:cNvSpPr txBox="1"/>
          <p:nvPr/>
        </p:nvSpPr>
        <p:spPr>
          <a:xfrm>
            <a:off x="4788000" y="2988000"/>
            <a:ext cx="2520000" cy="432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000" b="1">
                <a:solidFill>
                  <a:srgbClr val="818CF8"/>
                </a:solidFill>
              </a:rPr>
              <a:t>02</a:t>
            </a:r>
          </a:p>
        </p:txBody>
      </p:sp>
      <p:sp>
        <p:nvSpPr>
          <p:cNvPr id="14" name="s2t"/>
          <p:cNvSpPr txBox="1"/>
          <p:nvPr/>
        </p:nvSpPr>
        <p:spPr>
          <a:xfrm>
            <a:off x="4788000" y="3528000"/>
            <a:ext cx="25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2000" b="1">
                <a:solidFill>
                  <a:srgbClr val="F8FAFC"/>
                </a:solidFill>
              </a:rPr>
              <a:t>look</a:t>
            </a:r>
          </a:p>
        </p:txBody>
      </p:sp>
      <p:sp>
        <p:nvSpPr>
          <p:cNvPr id="15" name="s2b"/>
          <p:cNvSpPr txBox="1"/>
          <p:nvPr/>
        </p:nvSpPr>
        <p:spPr>
          <a:xfrm>
            <a:off x="4788000" y="3960000"/>
            <a:ext cx="2592000" cy="12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0">
                <a:solidFill>
                  <a:srgbClr val="94A3B8"/>
                </a:solidFill>
              </a:rPr>
              <a:t>The agent inspects the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image: spacing, contrast,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alignment, overflow.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/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Is this actually good?</a:t>
            </a:r>
          </a:p>
        </p:txBody>
      </p:sp>
      <p:sp>
        <p:nvSpPr>
          <p:cNvPr id="16" name="s3n"/>
          <p:cNvSpPr txBox="1"/>
          <p:nvPr/>
        </p:nvSpPr>
        <p:spPr>
          <a:xfrm>
            <a:off x="8532000" y="2988000"/>
            <a:ext cx="2520000" cy="432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000" b="1">
                <a:solidFill>
                  <a:srgbClr val="34D399"/>
                </a:solidFill>
              </a:rPr>
              <a:t>03</a:t>
            </a:r>
          </a:p>
        </p:txBody>
      </p:sp>
      <p:sp>
        <p:nvSpPr>
          <p:cNvPr id="17" name="s3t"/>
          <p:cNvSpPr txBox="1"/>
          <p:nvPr/>
        </p:nvSpPr>
        <p:spPr>
          <a:xfrm>
            <a:off x="8532000" y="3528000"/>
            <a:ext cx="252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2000" b="1">
                <a:solidFill>
                  <a:srgbClr val="F8FAFC"/>
                </a:solidFill>
              </a:rPr>
              <a:t>fix</a:t>
            </a:r>
          </a:p>
        </p:txBody>
      </p:sp>
      <p:sp>
        <p:nvSpPr>
          <p:cNvPr id="18" name="s3b"/>
          <p:cNvSpPr txBox="1"/>
          <p:nvPr/>
        </p:nvSpPr>
        <p:spPr>
          <a:xfrm>
            <a:off x="8532000" y="3960000"/>
            <a:ext cx="2592000" cy="12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0">
                <a:solidFill>
                  <a:srgbClr val="94A3B8"/>
                </a:solidFill>
              </a:rPr>
              <a:t>aioffice edit ... nudges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sizes, colors, positions.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/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Loop until every slide</a:t>
            </a:r>
          </a:p>
          <a:p>
            <a:pPr algn="l"/>
            <a:r>
              <a:rPr lang="en-US" sz="1200" b="0">
                <a:solidFill>
                  <a:srgbClr val="94A3B8"/>
                </a:solidFill>
              </a:rPr>
              <a:t>looks deliberate.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17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rBar"/>
          <p:cNvSpPr/>
          <p:nvPr/>
        </p:nvSpPr>
        <p:spPr>
          <a:xfrm>
            <a:off x="720000" y="756000"/>
            <a:ext cx="1296000" cy="504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hdr"/>
          <p:cNvSpPr txBox="1"/>
          <p:nvPr/>
        </p:nvSpPr>
        <p:spPr>
          <a:xfrm>
            <a:off x="720000" y="900000"/>
            <a:ext cx="10080000" cy="57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3400" b="1">
                <a:solidFill>
                  <a:srgbClr val="F8FAFC"/>
                </a:solidFill>
              </a:rPr>
              <a:t>Errors that teach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20000" y="1512000"/>
            <a:ext cx="1080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94A3B8"/>
                </a:solidFill>
              </a:rPr>
              <a:t>Every failure returns ONE JSON envelope with an actionable suggestion — so the agent can self-correct, not guess.</a:t>
            </a:r>
          </a:p>
        </p:txBody>
      </p:sp>
      <p:sp>
        <p:nvSpPr>
          <p:cNvPr id="5" name="leftCard"/>
          <p:cNvSpPr/>
          <p:nvPr/>
        </p:nvSpPr>
        <p:spPr>
          <a:xfrm>
            <a:off x="720000" y="2304000"/>
            <a:ext cx="4680000" cy="4032000"/>
          </a:xfrm>
          <a:prstGeom prst="roundRect">
            <a:avLst/>
          </a:prstGeom>
          <a:solidFill>
            <a:srgbClr val="1E293B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lLabel"/>
          <p:cNvSpPr txBox="1"/>
          <p:nvPr/>
        </p:nvSpPr>
        <p:spPr>
          <a:xfrm>
            <a:off x="1008000" y="2556000"/>
            <a:ext cx="4140000" cy="288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1">
                <a:solidFill>
                  <a:srgbClr val="38BDF8"/>
                </a:solidFill>
              </a:rPr>
              <a:t>THE AGENT TRIES</a:t>
            </a:r>
          </a:p>
        </p:txBody>
      </p:sp>
      <p:sp>
        <p:nvSpPr>
          <p:cNvPr id="7" name="lCmd"/>
          <p:cNvSpPr txBox="1"/>
          <p:nvPr/>
        </p:nvSpPr>
        <p:spPr>
          <a:xfrm>
            <a:off x="1008000" y="2916000"/>
            <a:ext cx="4140000" cy="93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500" b="0">
                <a:solidFill>
                  <a:srgbClr val="E2E8F0"/>
                </a:solidFill>
              </a:rPr>
              <a:t>aioffice edit deck.pptx</a:t>
            </a:r>
          </a:p>
          <a:p>
            <a:pPr algn="l"/>
            <a:r>
              <a:rPr lang="en-US" sz="1500" b="0">
                <a:solidFill>
                  <a:srgbClr val="E2E8F0"/>
                </a:solidFill>
              </a:rPr>
              <a:t>  --set /slide[9]/shape[7]</a:t>
            </a:r>
          </a:p>
          <a:p>
            <a:pPr algn="l"/>
            <a:r>
              <a:rPr lang="en-US" sz="1500" b="0">
                <a:solidFill>
                  <a:srgbClr val="E2E8F0"/>
                </a:solidFill>
              </a:rPr>
              <a:t>  text="Hi"</a:t>
            </a:r>
          </a:p>
        </p:txBody>
      </p:sp>
      <p:sp>
        <p:nvSpPr>
          <p:cNvPr id="8" name="lNote"/>
          <p:cNvSpPr txBox="1"/>
          <p:nvPr/>
        </p:nvSpPr>
        <p:spPr>
          <a:xfrm>
            <a:off x="1008000" y="4752000"/>
            <a:ext cx="4140000" cy="86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300" b="0">
                <a:solidFill>
                  <a:srgbClr val="94A3B8"/>
                </a:solidFill>
              </a:rPr>
              <a:t>Slide 9 does not exist. A naive</a:t>
            </a:r>
          </a:p>
          <a:p>
            <a:pPr algn="l"/>
            <a:r>
              <a:rPr lang="en-US" sz="1300" b="0">
                <a:solidFill>
                  <a:srgbClr val="94A3B8"/>
                </a:solidFill>
              </a:rPr>
              <a:t>tool would crash or hallucinate.</a:t>
            </a:r>
          </a:p>
        </p:txBody>
      </p:sp>
      <p:sp>
        <p:nvSpPr>
          <p:cNvPr id="9" name="rightCard"/>
          <p:cNvSpPr/>
          <p:nvPr/>
        </p:nvSpPr>
        <p:spPr>
          <a:xfrm>
            <a:off x="5940000" y="2304000"/>
            <a:ext cx="5544000" cy="4032000"/>
          </a:xfrm>
          <a:prstGeom prst="roundRect">
            <a:avLst/>
          </a:prstGeom>
          <a:solidFill>
            <a:srgbClr val="0B1220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rLabel"/>
          <p:cNvSpPr txBox="1"/>
          <p:nvPr/>
        </p:nvSpPr>
        <p:spPr>
          <a:xfrm>
            <a:off x="6228000" y="2556000"/>
            <a:ext cx="4860000" cy="288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200" b="1">
                <a:solidFill>
                  <a:srgbClr val="34D399"/>
                </a:solidFill>
              </a:rPr>
              <a:t>AIOFFICE ANSWERS</a:t>
            </a:r>
          </a:p>
        </p:txBody>
      </p:sp>
      <p:sp>
        <p:nvSpPr>
          <p:cNvPr id="11" name="rEnv"/>
          <p:cNvSpPr txBox="1"/>
          <p:nvPr/>
        </p:nvSpPr>
        <p:spPr>
          <a:xfrm>
            <a:off x="6228000" y="2916000"/>
            <a:ext cx="5040000" cy="324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300" b="0">
                <a:solidFill>
                  <a:srgbClr val="E2E8F0"/>
                </a:solidFill>
              </a:rPr>
              <a:t>{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"ok": false,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"error": {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  "code": "path_not_found",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  "message": "No slide[9];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     the deck has 6 slides.",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  "suggestion": "Use /slide[1..6],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     or add a slide first."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  }</a:t>
            </a:r>
          </a:p>
          <a:p>
            <a:pPr algn="l"/>
            <a:r>
              <a:rPr lang="en-US" sz="1300" b="0">
                <a:solidFill>
                  <a:srgbClr val="E2E8F0"/>
                </a:solidFill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F172A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ccentBar"/>
          <p:cNvSpPr/>
          <p:nvPr/>
        </p:nvSpPr>
        <p:spPr>
          <a:xfrm>
            <a:off x="1080000" y="1656000"/>
            <a:ext cx="2592000" cy="576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cornerBlock"/>
          <p:cNvSpPr/>
          <p:nvPr/>
        </p:nvSpPr>
        <p:spPr>
          <a:xfrm>
            <a:off x="10728000" y="576000"/>
            <a:ext cx="1465200" cy="1080000"/>
          </a:xfrm>
          <a:prstGeom prst="rect">
            <a:avLst/>
          </a:prstGeom>
          <a:solidFill>
            <a:srgbClr val="38BD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" name="cornerBlock2"/>
          <p:cNvSpPr/>
          <p:nvPr/>
        </p:nvSpPr>
        <p:spPr>
          <a:xfrm>
            <a:off x="0" y="5472000"/>
            <a:ext cx="1224000" cy="1386000"/>
          </a:xfrm>
          <a:prstGeom prst="rect">
            <a:avLst/>
          </a:prstGeom>
          <a:solidFill>
            <a:srgbClr val="818CF8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5" name="closeTitle"/>
          <p:cNvSpPr txBox="1"/>
          <p:nvPr/>
        </p:nvSpPr>
        <p:spPr>
          <a:xfrm>
            <a:off x="1026000" y="1872000"/>
            <a:ext cx="8640000" cy="1512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5200" b="1">
                <a:solidFill>
                  <a:srgbClr val="F8FAFC"/>
                </a:solidFill>
              </a:rPr>
              <a:t>Give your agent an</a:t>
            </a:r>
          </a:p>
          <a:p>
            <a:pPr algn="l"/>
            <a:r>
              <a:rPr lang="en-US" sz="5200" b="1">
                <a:solidFill>
                  <a:srgbClr val="F8FAFC"/>
                </a:solidFill>
              </a:rPr>
              <a:t>Office engine.</a:t>
            </a:r>
          </a:p>
        </p:txBody>
      </p:sp>
      <p:sp>
        <p:nvSpPr>
          <p:cNvPr id="6" name="installCard"/>
          <p:cNvSpPr/>
          <p:nvPr/>
        </p:nvSpPr>
        <p:spPr>
          <a:xfrm>
            <a:off x="1080000" y="4104000"/>
            <a:ext cx="6480000" cy="720000"/>
          </a:xfrm>
          <a:prstGeom prst="roundRect">
            <a:avLst/>
          </a:prstGeom>
          <a:solidFill>
            <a:srgbClr val="0B1220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7" name="installCmd"/>
          <p:cNvSpPr txBox="1"/>
          <p:nvPr/>
        </p:nvSpPr>
        <p:spPr>
          <a:xfrm>
            <a:off x="1332000" y="4284000"/>
            <a:ext cx="6120000" cy="396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800" b="0">
                <a:solidFill>
                  <a:srgbClr val="38BDF8"/>
                </a:solidFill>
              </a:rPr>
              <a:t>$  npx @aioffice/cli create deck.pptx</a:t>
            </a:r>
          </a:p>
        </p:txBody>
      </p:sp>
      <p:sp>
        <p:nvSpPr>
          <p:cNvPr id="8" name="repo"/>
          <p:cNvSpPr txBox="1"/>
          <p:nvPr/>
        </p:nvSpPr>
        <p:spPr>
          <a:xfrm>
            <a:off x="1080000" y="5112000"/>
            <a:ext cx="8640000" cy="360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800" b="1">
                <a:solidFill>
                  <a:srgbClr val="E2E8F0"/>
                </a:solidFill>
              </a:rPr>
              <a:t>github.com/onecer/aioffice</a:t>
            </a:r>
          </a:p>
        </p:txBody>
      </p:sp>
      <p:sp>
        <p:nvSpPr>
          <p:cNvPr id="9" name="closeSub"/>
          <p:cNvSpPr txBox="1"/>
          <p:nvPr/>
        </p:nvSpPr>
        <p:spPr>
          <a:xfrm>
            <a:off x="1080000" y="5508000"/>
            <a:ext cx="8640000" cy="324000"/>
          </a:xfrm>
          <a:prstGeom prst="rect">
            <a:avLst/>
          </a:prstGeom>
        </p:spPr>
        <p:txBody>
          <a:bodyPr wrap="square"/>
          <a:lstStyle/>
          <a:p>
            <a:pPr algn="l"/>
            <a:r>
              <a:rPr lang="en-US" sz="1400" b="0">
                <a:solidFill>
                  <a:srgbClr val="64748B"/>
                </a:solidFill>
              </a:rPr>
              <a:t>One binary · 18 verbs · 17 MCP tools · docx + xlsx + pptx</a:t>
            </a:r>
          </a:p>
        </p:txBody>
      </p:sp>
    </p:spTree>
  </p:cSld>
  <p:clrMapOvr>
    <a:masterClrMapping xmlns:a="http://schemas.openxmlformats.org/drawingml/2006/main"/>
  </p:clrMapOvr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AIOffice — An AI-native Office engine for agents</dc:title>
  <dc:subject>Product pitch deck</dc:subject>
  <dc:creator>AIOffice</dc:creator>
  <cp:keywords>aioffice;cli;mcp;office;docx;xlsx;pptx</cp:keywords>
  <cp:category>Pitch Deck</cp:category>
  <dc:description>Built entirely by aioffice — no Office installed.</dc:description>
</cp:coreProperties>
</file>