
<file path=[Content_Types].xml><?xml version="1.0" encoding="utf-8"?>
<Types xmlns="http://schemas.openxmlformats.org/package/2006/content-types">
  <Default Extension="xml" ContentType="application/vnd.openxmlformats-officedocument.presentationml.presentation.main+xml"/>
  <Default Extension="rels" ContentType="application/vnd.openxmlformats-package.relationships+xml"/>
  <Default Extension="png" ContentType="image/png"/>
  <Override PartName="/ppt/slides/slide1.xml" ContentType="application/vnd.openxmlformats-officedocument.presentationml.slide+xml"/>
  <Override PartName="/ppt/slideLayouts/slideLayout1.xml" ContentType="application/vnd.openxmlformats-officedocument.presentationml.slideLayout+xml"/>
  <Override PartName="/ppt/slideLayouts/slideMasters/slideMaster1.xml" ContentType="application/vnd.openxmlformats-officedocument.presentationml.slideMaster+xml"/>
  <Override PartName="/ppt/slideLayouts/slideMasters/theme/theme1.xml" ContentType="application/vnd.openxmlformats-officedocument.them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notesMasters/theme/theme2.xml" ContentType="application/vnd.openxmlformats-officedocument.theme+xml"/>
  <Override PartName="/ppt/notesSlides/notesSlide1.xml" ContentType="application/vnd.openxmlformats-officedocument.presentationml.notesSlide+xml"/>
  <Override PartName="/ppt/slides/slide4.xml" ContentType="application/vnd.openxmlformats-officedocument.presentationml.slide+xml"/>
  <Override PartName="/ppt/slides/charts/chart1.xml" ContentType="application/vnd.openxmlformats-officedocument.drawingml.chart+xml"/>
</Types>
</file>

<file path=_rels/.rels>&#65279;<?xml version="1.0" encoding="utf-8"?><Relationships xmlns="http://schemas.openxmlformats.org/package/2006/relationships"><Relationship Type="http://schemas.openxmlformats.org/officeDocument/2006/relationships/officeDocument" Target="/ppt/presentation.xml" Id="Raa516c59ebcc4bc4" /></Relationships>
</file>

<file path=ppt/presentation.xml><?xml version="1.0" encoding="utf-8"?>
<p:presentation xmlns:r="http://schemas.openxmlformats.org/officeDocument/2006/relationships" xmlns:p="http://schemas.openxmlformats.org/presentationml/2006/main">
  <p:sldMasterIdLst>
    <p:sldMasterId xmlns:r="http://schemas.openxmlformats.org/officeDocument/2006/relationships" id="2147483648" r:id="rId1"/>
  </p:sldMasterIdLst>
  <p:notesMasterIdLst>
    <p:notesMasterId r:id="Rbd27886b20324da2"/>
  </p:notesMasterIdLst>
  <p:sldIdLst>
    <p:sldId xmlns:r="http://schemas.openxmlformats.org/officeDocument/2006/relationships" id="256" r:id="rId2"/>
    <p:sldId id="257" r:id="Rb8a13454b2c345bb"/>
    <p:sldId id="258" r:id="R7b6dbcaf593d4f2e"/>
    <p:sldId id="259" r:id="R00634d1ce4dd4c7e"/>
  </p:sldIdLst>
  <p:sldSz cx="12192000" cy="6858000"/>
  <p:notesSz cx="6858000" cy="9144000"/>
  <p:defaultTextStyle/>
</p:presentation>
</file>

<file path=ppt/_rels/presentation.xml.rels>&#65279;<?xml version="1.0" encoding="utf-8"?><Relationships xmlns="http://schemas.openxmlformats.org/package/2006/relationships"><Relationship Type="http://schemas.openxmlformats.org/officeDocument/2006/relationships/slide" Target="/ppt/slides/slide1.xml" Id="rId2" /><Relationship Type="http://schemas.openxmlformats.org/officeDocument/2006/relationships/slideMaster" Target="/ppt/slideLayouts/slideMasters/slideMaster1.xml" Id="rId1" /><Relationship Type="http://schemas.openxmlformats.org/officeDocument/2006/relationships/slide" Target="/ppt/slides/slide2.xml" Id="Rb8a13454b2c345bb" /><Relationship Type="http://schemas.openxmlformats.org/officeDocument/2006/relationships/slide" Target="/ppt/slides/slide3.xml" Id="R7b6dbcaf593d4f2e" /><Relationship Type="http://schemas.openxmlformats.org/officeDocument/2006/relationships/notesMaster" Target="/ppt/notesMasters/notesMaster1.xml" Id="Rbd27886b20324da2" /><Relationship Type="http://schemas.openxmlformats.org/officeDocument/2006/relationships/slide" Target="/ppt/slides/slide4.xml" Id="R00634d1ce4dd4c7e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2.xml" Id="R410e43e457444ac1" /></Relationships>
</file>

<file path=ppt/notesMasters/notesMaster1.xml><?xml version="1.0" encoding="utf-8"?>
<p:notesMaster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notesStyle/>
</p:notesMaster>
</file>

<file path=ppt/notesMasters/theme/theme2.xml><?xml version="1.0" encoding="utf-8"?>
<a:theme xmlns:a="http://schemas.openxmlformats.org/drawingml/2006/main" name="AIOffice">
  <a:themeElements>
    <a:clrScheme name="AI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AI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AI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>
          <a:solidFill>
            <a:schemeClr val="phClr"/>
          </a:solidFill>
        </a:ln>
        <a:ln w="9525">
          <a:solidFill>
            <a:schemeClr val="phClr"/>
          </a:solidFill>
        </a:ln>
        <a:ln w="9525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3.xml" Id="R428682a7d563405b" /><Relationship Type="http://schemas.openxmlformats.org/officeDocument/2006/relationships/notesMaster" Target="/ppt/notesMasters/notesMaster1.xml" Id="R318b4d6dc5c04eaf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Notes Placeholder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Speaker notes written by aioffice — check presenter view.</a:t>
            </a:r>
          </a:p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Layouts/slideMasters/slideMaster1.xml" Id="rId1" /></Relationships>
</file>

<file path=ppt/slideLayouts/slideLayout1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Ovr>
    <a:masterClrMapping xmlns:a="http://schemas.openxmlformats.org/drawingml/2006/main"/>
  </p:clrMapOvr>
</p:sldLayout>
</file>

<file path=ppt/slideLayouts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Layouts/slideMasters/theme/theme1.xml" Id="rId2" /><Relationship Type="http://schemas.openxmlformats.org/officeDocument/2006/relationships/slideLayout" Target="/ppt/slideLayouts/slideLayout1.xml" Id="rId1" /></Relationships>
</file>

<file path=ppt/slideLayouts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Id1"/>
  </p:sldLayoutIdLst>
</p:sldMaster>
</file>

<file path=ppt/slideLayouts/slideMasters/theme/theme1.xml><?xml version="1.0" encoding="utf-8"?>
<a:theme xmlns:a="http://schemas.openxmlformats.org/drawingml/2006/main" name="AIOffice">
  <a:themeElements>
    <a:clrScheme name="AI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AI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AI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>
          <a:solidFill>
            <a:schemeClr val="phClr"/>
          </a:solidFill>
        </a:ln>
        <a:ln w="9525">
          <a:solidFill>
            <a:schemeClr val="phClr"/>
          </a:solidFill>
        </a:ln>
        <a:ln w="9525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1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53bb1e79ebb4123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7ff2294614c4a7d" /><Relationship Type="http://schemas.openxmlformats.org/officeDocument/2006/relationships/notesSlide" Target="/ppt/notesSlides/notesSlide1.xml" Id="Rafc914eb629d4c0b" /><Relationship Type="http://schemas.openxmlformats.org/officeDocument/2006/relationships/image" Target="/ppt/media/image.png" Id="R8c0c5f58697e486c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4186be2bdc84281" /><Relationship Type="http://schemas.openxmlformats.org/officeDocument/2006/relationships/chart" Target="/ppt/slides/charts/chart1.xml" Id="R0de37f929da940d6" /></Relationships>
</file>

<file path=ppt/slides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title>
      <c:tx>
        <c:rich>
          <a:bodyPr/>
          <a:lstStyle/>
          <a:p>
            <a:r>
              <a:t>Quarterly revenue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v>2025</c:v>
          </c:tx>
          <c:cat>
            <c:strLit>
              <c:ptCount val="4"/>
              <c:pt idx="0">
                <c:v>Q1</c:v>
              </c:pt>
              <c:pt idx="1">
                <c:v>Q2</c:v>
              </c:pt>
              <c:pt idx="2">
                <c:v>Q3</c:v>
              </c:pt>
              <c:pt idx="3">
                <c:v>Q4</c:v>
              </c:pt>
            </c:strLit>
          </c:cat>
          <c:val>
            <c:numLit>
              <c:formatCode>General</c:formatCode>
              <c:ptCount val="4"/>
              <c:pt idx="0">
                <c:v>12</c:v>
              </c:pt>
              <c:pt idx="1">
                <c:v>18</c:v>
              </c:pt>
              <c:pt idx="2">
                <c:v>15</c:v>
              </c:pt>
              <c:pt idx="3">
                <c:v>22</c:v>
              </c:pt>
            </c:numLit>
          </c:val>
        </c:ser>
        <c:ser>
          <c:idx val="1"/>
          <c:order val="1"/>
          <c:tx>
            <c:v>2026</c:v>
          </c:tx>
          <c:cat>
            <c:strLit>
              <c:ptCount val="4"/>
              <c:pt idx="0">
                <c:v>Q1</c:v>
              </c:pt>
              <c:pt idx="1">
                <c:v>Q2</c:v>
              </c:pt>
              <c:pt idx="2">
                <c:v>Q3</c:v>
              </c:pt>
              <c:pt idx="3">
                <c:v>Q4</c:v>
              </c:pt>
            </c:strLit>
          </c:cat>
          <c:val>
            <c:numLit>
              <c:formatCode>General</c:formatCode>
              <c:ptCount val="4"/>
              <c:pt idx="0">
                <c:v>14</c:v>
              </c:pt>
              <c:pt idx="1">
                <c:v>21</c:v>
              </c:pt>
              <c:pt idx="2">
                <c:v>19</c:v>
              </c:pt>
              <c:pt idx="3">
                <c:v>27</c:v>
              </c:pt>
            </c:numLit>
          </c:val>
        </c:ser>
        <c:axId val="100001"/>
        <c:axId val="100002"/>
      </c:barChart>
      <c:catAx>
        <c:axId val="100001"/>
        <c:scaling>
          <c:orientation val="minMax"/>
        </c:scaling>
        <c:delete val="0"/>
        <c:axPos val="b"/>
        <c:crossAx val="100002"/>
      </c:catAx>
      <c:valAx>
        <c:axId val="100002"/>
        <c:scaling>
          <c:orientation val="minMax"/>
        </c:scaling>
        <c:delete val="0"/>
        <c:axPos val="l"/>
        <c:crossAx val="100001"/>
      </c:valAx>
    </c:plotArea>
    <c:plotVisOnly val="1"/>
  </c:chart>
</c:chartSpace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1850" y="365125"/>
            <a:ext cx="105156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4000"/>
              <a:t>AIOffice PPTX Showcase</a:t>
            </a:r>
          </a:p>
        </p:txBody>
      </p:sp>
    </p:spTree>
  </p:cSld>
  <p:clrMapOvr>
    <a:masterClrMapping xmlns:a="http://schemas.openxmlformats.org/drawingml/2006/main"/>
  </p:clrMapOvr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1850" y="365125"/>
            <a:ext cx="105156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4000"/>
              <a:t>Shapes &amp; styles</a:t>
            </a:r>
          </a:p>
        </p:txBody>
      </p:sp>
      <p:sp>
        <p:nvSpPr>
          <p:cNvPr id="3" name="TextBox 3"/>
          <p:cNvSpPr txBox="1"/>
          <p:nvPr/>
        </p:nvSpPr>
        <p:spPr>
          <a:xfrm xmlns:a="http://schemas.openxmlformats.org/drawingml/2006/main">
            <a:off x="720000" y="1800000"/>
            <a:ext cx="3240000" cy="144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EE00"/>
          </a:solidFill>
        </p:spPr>
        <p:txBody>
          <a:bodyPr xmlns:a="http://schemas.openxmlformats.org/drawingml/2006/main" wrap="square"/>
          <a:lstStyle xmlns:a="http://schemas.openxmlformats.org/drawingml/2006/main"/>
          <a:p xmlns:a="http://schemas.openxmlformats.org/drawingml/2006/main">
            <a:pPr algn="ctr"/>
            <a:r>
              <a:rPr lang="en-US" sz="2000" b="1"/>
              <a:t>Solid yellow box</a:t>
            </a:r>
          </a:p>
          <a:p xmlns:a="http://schemas.openxmlformats.org/drawingml/2006/main">
            <a:pPr algn="ctr"/>
            <a:r>
              <a:rPr lang="en-US" sz="2000" b="1"/>
              <a:t>centered bold text</a:t>
            </a:r>
          </a:p>
        </p:txBody>
      </p:sp>
      <p:sp>
        <p:nvSpPr>
          <p:cNvPr id="4" name="TextBox 4"/>
          <p:cNvSpPr txBox="1"/>
          <p:nvPr/>
        </p:nvSpPr>
        <p:spPr>
          <a:xfrm xmlns:a="http://schemas.openxmlformats.org/drawingml/2006/main">
            <a:off x="4680000" y="1800000"/>
            <a:ext cx="3240000" cy="144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/>
          <a:lstStyle xmlns:a="http://schemas.openxmlformats.org/drawingml/2006/main"/>
          <a:p xmlns:a="http://schemas.openxmlformats.org/drawingml/2006/main">
            <a:r>
              <a:rPr lang="en-US">
                <a:solidFill>
                  <a:srgbClr val="CC0000"/>
                </a:solidFill>
              </a:rPr>
              <a:t>Red text on plain box</a:t>
            </a:r>
          </a:p>
        </p:txBody>
      </p:sp>
    </p:spTree>
  </p:cSld>
  <p:clrMapOvr>
    <a:masterClrMapping xmlns:a="http://schemas.openxmlformats.org/drawingml/2006/main"/>
  </p:clrMapOvr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E2E8F0"/>
        </a:solidFill>
        <a:effectLst xmlns:a="http://schemas.openxmlformats.org/drawingml/2006/main"/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1850" y="365125"/>
            <a:ext cx="105156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4000"/>
              <a:t>M2: background, notes &amp; image</a:t>
            </a:r>
          </a:p>
        </p:txBody>
      </p:sp>
      <p:pic>
        <p:nvPicPr>
          <p:cNvPr id="3" name="showcase-logo.png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c0c5f58697e486c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720000" y="2160000"/>
            <a:ext cx="2160000" cy="1080000"/>
          </a:xfrm>
          <a:prstGeom xmlns:a="http://schemas.openxmlformats.org/drawingml/2006/main" prst="rect">
            <a:avLst/>
          </a:prstGeom>
        </p:spPr>
      </p:pic>
    </p:spTree>
  </p:cSld>
  <p:clrMapOvr>
    <a:masterClrMapping xmlns:a="http://schemas.openxmlformats.org/drawingml/2006/main"/>
  </p:clrMapOvr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1850" y="365125"/>
            <a:ext cx="105156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4000"/>
              <a:t>M3: chart, geometries &amp; transition</a:t>
            </a:r>
          </a:p>
        </p:txBody>
      </p:sp>
      <p:graphicFrame>
        <p:nvGraphicFramePr>
          <p:cNvPr id="3" name="Chart 3"/>
          <p:cNvGraphicFramePr/>
          <p:nvPr/>
        </p:nvGraphicFramePr>
        <p:xfrm>
          <a:off xmlns:a="http://schemas.openxmlformats.org/drawingml/2006/main" x="720000" y="1620000"/>
          <a:ext xmlns:a="http://schemas.openxmlformats.org/drawingml/2006/main" cx="5760000" cy="39600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0de37f929da940d6"/>
          </a:graphicData>
        </a:graphic>
      </p:graphicFrame>
      <p:sp>
        <p:nvSpPr>
          <p:cNvPr id="4" name="Ellipse 4"/>
          <p:cNvSpPr/>
          <p:nvPr/>
        </p:nvSpPr>
        <p:spPr>
          <a:xfrm xmlns:a="http://schemas.openxmlformats.org/drawingml/2006/main">
            <a:off x="7200000" y="1620000"/>
            <a:ext cx="1800000" cy="1080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0AD47"/>
          </a:solidFill>
        </p:spPr>
        <p:txBody>
          <a:bodyPr xmlns:a="http://schemas.openxmlformats.org/drawingml/2006/main" wrap="square"/>
          <a:lstStyle xmlns:a="http://schemas.openxmlformats.org/drawingml/2006/main"/>
          <a:p xmlns:a="http://schemas.openxmlformats.org/drawingml/2006/main">
            <a:pPr algn="ctr"/>
            <a:r>
              <a:rPr lang="en-US"/>
              <a:t>ellipse</a:t>
            </a:r>
          </a:p>
        </p:txBody>
      </p:sp>
      <p:sp>
        <p:nvSpPr>
          <p:cNvPr id="5" name="Arrow 5"/>
          <p:cNvSpPr/>
          <p:nvPr/>
        </p:nvSpPr>
        <p:spPr>
          <a:xfrm xmlns:a="http://schemas.openxmlformats.org/drawingml/2006/main">
            <a:off x="9360000" y="1620000"/>
            <a:ext cx="1800000" cy="10800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ED7D31"/>
          </a:solidFill>
        </p:spPr>
        <p:txBody>
          <a:bodyPr xmlns:a="http://schemas.openxmlformats.org/drawingml/2006/main" wrap="square"/>
          <a:lstStyle xmlns:a="http://schemas.openxmlformats.org/drawingml/2006/main"/>
          <a:p xmlns:a="http://schemas.openxmlformats.org/drawingml/2006/main">
            <a:r>
              <a:rPr lang="en-US"/>
              <a:t/>
            </a:r>
          </a:p>
        </p:txBody>
      </p:sp>
      <p:cxnSp>
        <p:nvCxnSpPr>
          <p:cNvPr id="6" name="Line 6"/>
          <p:cNvCxnSpPr/>
          <p:nvPr/>
        </p:nvCxnSpPr>
        <p:spPr>
          <a:xfrm xmlns:a="http://schemas.openxmlformats.org/drawingml/2006/main" flipV="1">
            <a:off x="7200000" y="3240000"/>
            <a:ext cx="3960000" cy="1080000"/>
          </a:xfrm>
          <a:prstGeom xmlns:a="http://schemas.openxmlformats.org/drawingml/2006/main" prst="line">
            <a:avLst/>
          </a:prstGeom>
          <a:ln xmlns:a="http://schemas.openxmlformats.org/drawingml/2006/main" w="19050">
            <a:solidFill>
              <a:srgbClr val="4472C4"/>
            </a:solidFill>
          </a:ln>
        </p:spPr>
      </p:cxnSp>
    </p:spTree>
  </p:cSld>
  <p:clrMapOvr>
    <a:masterClrMapping xmlns:a="http://schemas.openxmlformats.org/drawingml/2006/main"/>
  </p:clrMapOvr>
  <p:transition xmlns:p14="http://schemas.microsoft.com/office/powerpoint/2010/main" p14:dur="700">
    <p:fade/>
  </p:transition>
</p:sld>
</file>