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psmdcp" ContentType="application/vnd.openxmlformats-package.core-properties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Masters/slideMaster1.xml" ContentType="application/vnd.openxmlformats-officedocument.presentationml.slideMaster+xml"/>
  <Override PartName="/ppt/slideLayouts/slideMasters/theme/theme1.xml" ContentType="application/vnd.openxmlformats-officedocument.them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b280f2b189b349f2" /><Relationship Type="http://schemas.openxmlformats.org/package/2006/relationships/metadata/core-properties" Target="/package/services/metadata/core-properties/5e99837ce3894fc3aaa0ac65de83bd15.psmdcp" Id="R15b5bc1875b74baf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xmlns:r="http://schemas.openxmlformats.org/officeDocument/2006/relationships" id="256" r:id="rId2"/>
    <p:sldId id="257" r:id="Rd1f495604ca54dd2"/>
    <p:sldId id="258" r:id="Racedc50479c541f8"/>
    <p:sldId id="259" r:id="R3db2a6628a1e4a2f"/>
  </p:sldIdLst>
  <p:sldSz cx="12192000" cy="6858000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/ppt/slides/slide1.xml" Id="rId2" /><Relationship Type="http://schemas.openxmlformats.org/officeDocument/2006/relationships/slideMaster" Target="/ppt/slideLayouts/slideMasters/slideMaster1.xml" Id="rId1" /><Relationship Type="http://schemas.openxmlformats.org/officeDocument/2006/relationships/slide" Target="/ppt/slides/slide2.xml" Id="Rd1f495604ca54dd2" /><Relationship Type="http://schemas.openxmlformats.org/officeDocument/2006/relationships/slide" Target="/ppt/slides/slide3.xml" Id="Racedc50479c541f8" /><Relationship Type="http://schemas.openxmlformats.org/officeDocument/2006/relationships/slide" Target="/ppt/slides/slide4.xml" Id="R3db2a6628a1e4a2f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Layouts/slideMasters/slideMaster1.xml" Id="rId1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Layouts/slideMasters/theme/theme1.xml" Id="rId2" /><Relationship Type="http://schemas.openxmlformats.org/officeDocument/2006/relationships/slideLayout" Target="/ppt/slideLayouts/slideLayout1.xml" Id="rId1" /></Relationships>
</file>

<file path=ppt/slideLayouts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</p:sldLayoutIdLst>
</p:sldMaster>
</file>

<file path=ppt/slideLayouts/slideMasters/theme/theme1.xml><?xml version="1.0" encoding="utf-8"?>
<a:theme xmlns:a="http://schemas.openxmlformats.org/drawingml/2006/main" name="AIOffice">
  <a:themeElements>
    <a:clrScheme name="AI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I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AI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66f6bf84d6493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82302509fe420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1b1324094c4073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185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 sz="4000"/>
              <a:t>M9 Convert Demo</a:t>
            </a:r>
          </a:p>
        </p:txBody>
      </p:sp>
      <p:sp>
        <p:nvSpPr>
          <p:cNvPr id="3" name="Content Placeholder"/>
          <p:cNvSpPr>
            <a:spLocks noGrp="1"/>
          </p:cNvSpPr>
          <p:nvPr>
            <p:ph type="body" idx="1"/>
          </p:nvPr>
        </p:nvSpPr>
        <p:spPr>
          <a:xfrm>
            <a:off x="83185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r>
              <a:rPr lang="en-US"/>
              <a:t/>
            </a:r>
          </a:p>
          <a:p>
            <a:r>
              <a:rPr lang="en-US"/>
              <a:t>This document was authored in Word, then converted to a slide deck by aioffice convert. Open convert-deck.pptx beside it to compare.</a:t>
            </a:r>
          </a:p>
        </p:txBody>
      </p:sp>
    </p:spTree>
  </p:cSld>
  <p:clrMapOvr>
    <a:masterClrMapping xmlns:a="http://schemas.openxmlformats.org/drawingml/2006/main"/>
  </p:clrMapOvr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185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000"/>
              <a:t>Revenue</a:t>
            </a:r>
          </a:p>
        </p:txBody>
      </p:sp>
      <p:sp>
        <p:nvSpPr>
          <p:cNvPr id="3" name="Content Placeholder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North region up 12% year over year</a:t>
            </a:r>
          </a:p>
          <a:p xmlns:a="http://schemas.openxmlformats.org/drawingml/2006/main">
            <a:r>
              <a:rPr lang="en-US"/>
              <a:t>South region flat</a:t>
            </a:r>
          </a:p>
          <a:p xmlns:a="http://schemas.openxmlformats.org/drawingml/2006/main">
            <a:r>
              <a:rPr lang="en-US"/>
              <a:t>EMEA launched in Q3</a:t>
            </a:r>
          </a:p>
        </p:txBody>
      </p:sp>
    </p:spTree>
  </p:cSld>
  <p:clrMapOvr>
    <a:masterClrMapping xmlns:a="http://schemas.openxmlformats.org/drawingml/2006/main"/>
  </p:clrMapOvr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185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000"/>
              <a:t>Costs</a:t>
            </a:r>
          </a:p>
        </p:txBody>
      </p:sp>
      <p:sp>
        <p:nvSpPr>
          <p:cNvPr id="3" name="Content Placeholder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Rent steady after the renewal</a:t>
            </a:r>
          </a:p>
          <a:p xmlns:a="http://schemas.openxmlformats.org/drawingml/2006/main">
            <a:r>
              <a:rPr lang="en-US"/>
              <a:t>Headcount grew 8%</a:t>
            </a:r>
          </a:p>
        </p:txBody>
      </p:sp>
    </p:spTree>
  </p:cSld>
  <p:clrMapOvr>
    <a:masterClrMapping xmlns:a="http://schemas.openxmlformats.org/drawingml/2006/main"/>
  </p:clrMapOvr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185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000"/>
              <a:t>Outlook</a:t>
            </a:r>
          </a:p>
        </p:txBody>
      </p:sp>
      <p:sp>
        <p:nvSpPr>
          <p:cNvPr id="3" name="Content Placeholder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Expand into the EU market</a:t>
            </a:r>
          </a:p>
        </p:txBody>
      </p:sp>
      <p:graphicFrame>
        <p:nvGraphicFramePr>
          <p:cNvPr id="4" name="Table 4"/>
          <p:cNvGraphicFramePr/>
          <p:nvPr/>
        </p:nvGraphicFramePr>
        <p:xfrm>
          <a:off xmlns:a="http://schemas.openxmlformats.org/drawingml/2006/main" x="900000" y="900000"/>
          <a:ext xmlns:a="http://schemas.openxmlformats.org/drawingml/2006/main" cx="7200000" cy="108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00000"/>
                <a:gridCol w="2400000"/>
                <a:gridCol w="2400000"/>
              </a:tblGrid>
              <a:tr h="360000">
                <a:tc>
                  <a:txBody>
                    <a:bodyPr/>
                    <a:lstStyle/>
                    <a:p>
                      <a:r>
                        <a:rPr lang="en-US"/>
                        <a:t>Region</a:t>
                      </a:r>
                    </a:p>
                  </a:txBody>
                  <a:tcPr>
                    <a:lnL w="12700">
                      <a:solidFill>
                        <a:srgbClr val="BFBFBF"/>
                      </a:solidFill>
                    </a:lnL>
                    <a:lnR w="12700">
                      <a:solidFill>
                        <a:srgbClr val="BFBFBF"/>
                      </a:solidFill>
                    </a:lnR>
                    <a:lnT w="12700">
                      <a:solidFill>
                        <a:srgbClr val="BFBFBF"/>
                      </a:solidFill>
                    </a:lnT>
                    <a:lnB w="1270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Units</a:t>
                      </a:r>
                    </a:p>
                  </a:txBody>
                  <a:tcPr>
                    <a:lnL w="12700">
                      <a:solidFill>
                        <a:srgbClr val="BFBFBF"/>
                      </a:solidFill>
                    </a:lnL>
                    <a:lnR w="12700">
                      <a:solidFill>
                        <a:srgbClr val="BFBFBF"/>
                      </a:solidFill>
                    </a:lnR>
                    <a:lnT w="12700">
                      <a:solidFill>
                        <a:srgbClr val="BFBFBF"/>
                      </a:solidFill>
                    </a:lnT>
                    <a:lnB w="1270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Revenue</a:t>
                      </a:r>
                    </a:p>
                  </a:txBody>
                  <a:tcPr>
                    <a:lnL w="12700">
                      <a:solidFill>
                        <a:srgbClr val="BFBFBF"/>
                      </a:solidFill>
                    </a:lnL>
                    <a:lnR w="12700">
                      <a:solidFill>
                        <a:srgbClr val="BFBFBF"/>
                      </a:solidFill>
                    </a:lnR>
                    <a:lnT w="12700">
                      <a:solidFill>
                        <a:srgbClr val="BFBFBF"/>
                      </a:solidFill>
                    </a:lnT>
                    <a:lnB w="1270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r>
                        <a:rPr lang="en-US"/>
                        <a:t>North</a:t>
                      </a:r>
                    </a:p>
                  </a:txBody>
                  <a:tcPr>
                    <a:lnL w="12700">
                      <a:solidFill>
                        <a:srgbClr val="BFBFBF"/>
                      </a:solidFill>
                    </a:lnL>
                    <a:lnR w="12700">
                      <a:solidFill>
                        <a:srgbClr val="BFBFBF"/>
                      </a:solidFill>
                    </a:lnR>
                    <a:lnT w="12700">
                      <a:solidFill>
                        <a:srgbClr val="BFBFBF"/>
                      </a:solidFill>
                    </a:lnT>
                    <a:lnB w="1270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120</a:t>
                      </a:r>
                    </a:p>
                  </a:txBody>
                  <a:tcPr>
                    <a:lnL w="12700">
                      <a:solidFill>
                        <a:srgbClr val="BFBFBF"/>
                      </a:solidFill>
                    </a:lnL>
                    <a:lnR w="12700">
                      <a:solidFill>
                        <a:srgbClr val="BFBFBF"/>
                      </a:solidFill>
                    </a:lnR>
                    <a:lnT w="12700">
                      <a:solidFill>
                        <a:srgbClr val="BFBFBF"/>
                      </a:solidFill>
                    </a:lnT>
                    <a:lnB w="1270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48000</a:t>
                      </a:r>
                    </a:p>
                  </a:txBody>
                  <a:tcPr>
                    <a:lnL w="12700">
                      <a:solidFill>
                        <a:srgbClr val="BFBFBF"/>
                      </a:solidFill>
                    </a:lnL>
                    <a:lnR w="12700">
                      <a:solidFill>
                        <a:srgbClr val="BFBFBF"/>
                      </a:solidFill>
                    </a:lnR>
                    <a:lnT w="12700">
                      <a:solidFill>
                        <a:srgbClr val="BFBFBF"/>
                      </a:solidFill>
                    </a:lnT>
                    <a:lnB w="1270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r>
                        <a:rPr lang="en-US"/>
                        <a:t>South</a:t>
                      </a:r>
                    </a:p>
                  </a:txBody>
                  <a:tcPr>
                    <a:lnL w="12700">
                      <a:solidFill>
                        <a:srgbClr val="BFBFBF"/>
                      </a:solidFill>
                    </a:lnL>
                    <a:lnR w="12700">
                      <a:solidFill>
                        <a:srgbClr val="BFBFBF"/>
                      </a:solidFill>
                    </a:lnR>
                    <a:lnT w="12700">
                      <a:solidFill>
                        <a:srgbClr val="BFBFBF"/>
                      </a:solidFill>
                    </a:lnT>
                    <a:lnB w="1270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95</a:t>
                      </a:r>
                    </a:p>
                  </a:txBody>
                  <a:tcPr>
                    <a:lnL w="12700">
                      <a:solidFill>
                        <a:srgbClr val="BFBFBF"/>
                      </a:solidFill>
                    </a:lnL>
                    <a:lnR w="12700">
                      <a:solidFill>
                        <a:srgbClr val="BFBFBF"/>
                      </a:solidFill>
                    </a:lnR>
                    <a:lnT w="12700">
                      <a:solidFill>
                        <a:srgbClr val="BFBFBF"/>
                      </a:solidFill>
                    </a:lnT>
                    <a:lnB w="1270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38000</a:t>
                      </a:r>
                    </a:p>
                  </a:txBody>
                  <a:tcPr>
                    <a:lnL w="12700">
                      <a:solidFill>
                        <a:srgbClr val="BFBFBF"/>
                      </a:solidFill>
                    </a:lnL>
                    <a:lnR w="12700">
                      <a:solidFill>
                        <a:srgbClr val="BFBFBF"/>
                      </a:solidFill>
                    </a:lnR>
                    <a:lnT w="12700">
                      <a:solidFill>
                        <a:srgbClr val="BFBFBF"/>
                      </a:solidFill>
                    </a:lnT>
                    <a:lnB w="1270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 xmlns:a="http://schemas.openxmlformats.org/drawingml/2006/main"/>
  </p:clrMapOvr>
</p:sld>
</file>